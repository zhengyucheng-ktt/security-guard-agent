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371600"/>
            <a:ext cx="3657600" cy="365760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303520"/>
            <a:ext cx="3657600" cy="3657600"/>
          </a:xfrm>
          <a:prstGeom prst="ellipse">
            <a:avLst/>
          </a:prstGeom>
          <a:solidFill>
            <a:srgbClr val="14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FA9C6"/>
                </a:solidFill>
                <a:latin typeface="微软雅黑"/>
                <a:ea typeface="微软雅黑"/>
              </a:rPr>
              <a:t>A I   S E C U R I T Y   G A T E W A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安全交互守护智能体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C9D6E4"/>
                </a:solidFill>
                <a:latin typeface="微软雅黑"/>
                <a:ea typeface="微软雅黑"/>
              </a:rPr>
              <a:t>Security Guard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4023360"/>
            <a:ext cx="2651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</a:rPr>
              <a:t>给你的业务智能体，装上一道多层安全门卫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FA9C6"/>
                </a:solidFill>
                <a:latin typeface="微软雅黑"/>
                <a:ea typeface="微软雅黑"/>
              </a:rPr>
              <a:t>绿色免安装版 v1.1.0  ·  2026 年 8 月  ·  面向 LLM 应用的多层风控网关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173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435608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4E79"/>
                </a:solidFill>
                <a:latin typeface="微软雅黑"/>
                <a:ea typeface="微软雅黑"/>
              </a:rPr>
              <a:t>背景与痛点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8794"/>
                </a:solidFill>
                <a:latin typeface="微软雅黑"/>
                <a:ea typeface="微软雅黑"/>
              </a:rPr>
              <a:t>LLM 应用面临哪些安全风险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30552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4884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4E79"/>
                </a:solidFill>
                <a:latin typeface="微软雅黑"/>
                <a:ea typeface="微软雅黑"/>
              </a:rPr>
              <a:t>产品定位与全链路防线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7627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8794"/>
                </a:solidFill>
                <a:latin typeface="微软雅黑"/>
                <a:ea typeface="微软雅黑"/>
              </a:rPr>
              <a:t>守护智能体，而不是限制智能体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43784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62072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4E79"/>
                </a:solidFill>
                <a:latin typeface="微软雅黑"/>
                <a:ea typeface="微软雅黑"/>
              </a:rPr>
              <a:t>六大核心防线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9504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8794"/>
                </a:solidFill>
                <a:latin typeface="微软雅黑"/>
                <a:ea typeface="微软雅黑"/>
              </a:rPr>
              <a:t>输入 / 工具 / 输出 / 反刷评 / 判定 / 思维链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57015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575303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4E79"/>
                </a:solidFill>
                <a:latin typeface="微软雅黑"/>
                <a:ea typeface="微软雅黑"/>
              </a:rPr>
              <a:t>审计与溯源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02735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8794"/>
                </a:solidFill>
                <a:latin typeface="微软雅黑"/>
                <a:ea typeface="微软雅黑"/>
              </a:rPr>
              <a:t>全程留痕，哈希链防篡改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70248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88536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4E79"/>
                </a:solidFill>
                <a:latin typeface="微软雅黑"/>
                <a:ea typeface="微软雅黑"/>
              </a:rPr>
              <a:t>业务接入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159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8794"/>
                </a:solidFill>
                <a:latin typeface="微软雅黑"/>
                <a:ea typeface="微软雅黑"/>
              </a:rPr>
              <a:t>黑箱 SDK，几行代码搞定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98348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001768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4E79"/>
                </a:solidFill>
                <a:latin typeface="微软雅黑"/>
                <a:ea typeface="微软雅黑"/>
              </a:rPr>
              <a:t>性能与安全自测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0292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8794"/>
                </a:solidFill>
                <a:latin typeface="微软雅黑"/>
                <a:ea typeface="微软雅黑"/>
              </a:rPr>
              <a:t>约 1ms 开销、93% 拦截（DeepSeek 云端兜底）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696712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714999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4E79"/>
                </a:solidFill>
                <a:latin typeface="微软雅黑"/>
                <a:ea typeface="微软雅黑"/>
              </a:rPr>
              <a:t>部署与交付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742431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8794"/>
                </a:solidFill>
                <a:latin typeface="微软雅黑"/>
                <a:ea typeface="微软雅黑"/>
              </a:rPr>
              <a:t>绿色 ZIP / Docker / 多实例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01  背景与痛点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LLM 应用落地后，安全不再是'要不要防'，而是'怎么防'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332720" cy="42976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64792"/>
            <a:ext cx="9930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LLM 应用面临的七重风险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87552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提示注入 / 越狱 —— 几句'魔法话术'就让 AI 吐出不该说的内容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数据泄露 —— 身份证、手机号、银行卡随对话悄悄流出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工具滥用 —— AI 被诱导调用删除、转账、提权等高危操作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刷单刷评 —— 批量机器人灌水、薅羊毛、恶意打差评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多轮诱导 —— 不直接问，铺垫几轮再套出敏感信息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编码混淆 —— 全角 / Base64 / HTML 实体等变体绕过关键词检测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思维链风险 —— AI 自己也可能产生提权、导数据、转资金的念头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合规压力 —— 数据出境与隐私保护法规提出更高安全要求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结论：防线必须同时布在『输入 — 工具 — 输出』全链路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守护智能体，而不是限制智能体——安全与体验兼得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单点防护防不住组合攻击，需要多层协同纵深防御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每一层防线独立可开关，按业务风险等级灵活组合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02  产品定位与全链路防线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守护智能体，而不是限制智能体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5074920" cy="42976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6479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它是什么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461772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位置：业务 LLM 与用户 / 工具之间的透明网关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原则：默认拒绝，逐层验证通过才放行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规则可配置、误拦可调、可解释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形态：单文件服务 + 图形面板 + SDK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非技术用户几行代码即可接入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每层防线独立开关，灵活组合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安全与体验兼得，不打扰正常用户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支持单机零依赖运行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也支持多实例水平扩展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数据不出网可选（本地判定引擎）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判定引擎可切换本地 / 云端 / 混合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配置 3 秒热加载，改完即生效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日志全程留痕，审计可溯源可导出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91640"/>
            <a:ext cx="5074920" cy="42976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6479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全链路防线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148840"/>
            <a:ext cx="461772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用户 → 输入防线 → 业务 LLM → 工具防线 → 输出防线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输入防线：规则引擎 + 混淆归一 + 多轮语境分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输入防线：大模型兜底，可疑内容升级审核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工具防线：白名单 + 参数校验 + 30 秒 JWT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工具防线：高危工具必拦，未授权调用即拦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输出防线：脱敏 + 零宽水印 + 差分隐私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思维链监控：管住『AI 脑子里的话』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反刷评：去重 + 限流 + 信誉分 + 机器行为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判定引擎：本地 / 云端 / 混合三模式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审计溯源：攻击标签 + 哈希链 + 报表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三层防线形成完整闭环，纵深防御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拦截发生在风险产生的那一刻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而非结果发生之后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03 · 六大核心防线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覆盖 LLM 应用全生命周期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329184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19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E4E79"/>
                </a:solidFill>
                <a:latin typeface="微软雅黑"/>
                <a:ea typeface="微软雅黑"/>
              </a:rPr>
              <a:t>输入检测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94560"/>
            <a:ext cx="2834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关键词 / 正则 / 自然语言三层规则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可疑内容大模型兜底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混淆变体先解码再检测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E4E79"/>
                </a:solidFill>
                <a:latin typeface="微软雅黑"/>
                <a:ea typeface="微软雅黑"/>
              </a:rPr>
              <a:t>提示注入防御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2834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编码混淆归一化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间接注入扫描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多轮会话语境分联动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508760"/>
            <a:ext cx="329184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645919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E4E79"/>
                </a:solidFill>
                <a:latin typeface="微软雅黑"/>
                <a:ea typeface="微软雅黑"/>
              </a:rPr>
              <a:t>工具调用防护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194560"/>
            <a:ext cx="2834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高危工具拦截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白名单授权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参数深度校验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JWT 授权令牌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023360"/>
            <a:ext cx="329184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0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E4E79"/>
                </a:solidFill>
                <a:latin typeface="微软雅黑"/>
                <a:ea typeface="微软雅黑"/>
              </a:rPr>
              <a:t>输出防护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709160"/>
            <a:ext cx="2834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10 类信息脱敏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零宽字符水印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差分隐私噪声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023360"/>
            <a:ext cx="329184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160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E4E79"/>
                </a:solidFill>
                <a:latin typeface="微软雅黑"/>
                <a:ea typeface="微软雅黑"/>
              </a:rPr>
              <a:t>反刷评风控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709160"/>
            <a:ext cx="2834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内容去重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账号/IP 聚合限流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信誉分升级处置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4023360"/>
            <a:ext cx="329184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4160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E4E79"/>
                </a:solidFill>
                <a:latin typeface="微软雅黑"/>
                <a:ea typeface="微软雅黑"/>
              </a:rPr>
              <a:t>审计溯源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709160"/>
            <a:ext cx="2834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攻击类型标签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防篡改哈希链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CSV 报表 + 只读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03  输入防线：把住用户说的话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四层机制协同，识别并拦截恶意输入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332720" cy="15544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64792"/>
            <a:ext cx="9930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三层规则引擎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875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关键词规则命中即拦截，可随时增删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正则规则：身份证 / 手机号（带词边界防误判）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自然语言规则：描述意图自动生成，热加载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全部配置 3 秒热加载，改完即生效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5074920" cy="2606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45643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对抗混淆归一化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4617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全角、空格、零宽字符先归一化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URL 编码解码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Base64（含前缀 / 双层）解码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HTML 实体（&amp;#x89c4;）解码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Unicode 转义（\u89c4）解码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先解码再检测，编码绕不过规则层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'忽 略 规 则'变体照样识别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对抗混淆自测持续补盲区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383280"/>
            <a:ext cx="5074920" cy="2606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5643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多轮渐进式注入防御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840480"/>
            <a:ext cx="4617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铺垫词累积会话语境分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达标后升级审查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敏感请求联动拦截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实测：5 轮诱导第 5 轮被拦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低风险内容自动改写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手机号等 PII 先脱敏再放行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不误拦正常对话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只拦真正越界的那一步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03  工具防线：管住 AI 能做的事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四步把关，高危操作层层设卡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5074920" cy="42976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6479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调用前四步检查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461772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① 白名单：不在白名单直接拦截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高危工具（删除 / 转账 / 提权）必拦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② 参数清洗：允许键过滤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未声明字符串键消毒剔除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③ 深度校验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SQL 注入 / 路径遍历检测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XSS / 敏感参数检测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数组批量 ≥5 项视为批量操作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④ 授权令牌：30 秒有效 JWT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工具端可自证授权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防止越权调用与令牌冒用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校验失败即拦截并记审计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91640"/>
            <a:ext cx="5074920" cy="42976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6479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工具结果回传也设防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148840"/>
            <a:ext cx="461772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网页 / 文档返回内容可能携带恶意指令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进模型上下文前先扫描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间接注入命中即拦截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记录审计，防止污染模型上下文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思维链同步检测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AI 自主产生的危险思路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计划提权 / 导数据 / 转资金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在动手前拦截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三层防线形成完整闭环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高危工具拦截率实测 12/12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参数攻击全拦截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白名单工具正常参数放行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03  输出防线：护住出去的每一句话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脱敏 + 水印 + 差分隐私，三道保险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332720" cy="15544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64792"/>
            <a:ext cx="9930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动态分级脱敏（10 类信息）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875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手机 / 身份证 / 银行卡 / 邮箱 / IP / 姓名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地址 / 车牌 / 营业执照 / 微信号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示例：13212345678 → 132****5678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按角色策略分级：full / partial / minimal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5074920" cy="2606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45643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零宽字符水印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4617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输出嵌入肉眼不可见身份标记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内容外泄可定位会话与用户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防截图外传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防数据二次分发溯源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与脱敏互补，双重保险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水印提取 GUI 一键完成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383280"/>
            <a:ext cx="5074920" cy="2606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5643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差分隐私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840480"/>
            <a:ext cx="4617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统计数字加 Laplace 噪声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防止从聚合结果反推个体数据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适合统计型输出场景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聚合报表场景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可选开关，按需启用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不影响正常数值读取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03  反刷评与账号风控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让机器灌水、批量薅羊毛无处遁形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5074920" cy="42976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6479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四重反刷机制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461772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内容去重：相同 / 相似内容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时间窗内重复提交即拦截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聚合限流：账号维度 + IP 维度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突增流量自动限速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信誉分：跨会话累计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行为越差分越低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低到阈值自动限流 / 终止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机器行为检测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请求间隔过于均匀 → 疑似自动化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实测：重复提交被拦截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编码相似变体同样命中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91640"/>
            <a:ext cx="5074920" cy="42976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6479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会话风险积分（自动升级）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148840"/>
            <a:ext cx="461772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30 分警告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60 分限流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80 分终止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拦截行为也累计积分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持续违规逐级加压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管理端一键解封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支持手动封禁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内存模式积分持久化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重启不丢状态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多实例 Redis 共享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积分变化全程审计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03 · 判定引擎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安全审核的'大模型法官'，三种模式 GUI 一键切换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适合场景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48840"/>
            <a:ext cx="1033272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本地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5856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只用本地 Ollama 模型，数据不出网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25856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金融 / 医疗 / 政务、内网离线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926080"/>
            <a:ext cx="10332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3580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云端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3580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OpenAI 兼容 API，判定能力最强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03580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判定力优先、数据敏感度低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03320"/>
            <a:ext cx="1033272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81304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混合 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1304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本地初筛 + 云端终审，双保险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8130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兼顾隐私与判定力（推荐）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709160"/>
            <a:ext cx="10332720" cy="15544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782312"/>
            <a:ext cx="9930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引擎不可用时的失败策略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66360"/>
            <a:ext cx="9875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fallback（推荐）：自动降级到另一引擎，本地 ↔ 云端互为备份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block：直接拦截（fail-closed，最安全）· allow：直接放行（fail-open，有风险）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判定缓存 30 秒：相同内容重复审查零开销；配置 3 秒热加载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03  思维链监控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AI 动手之前，先拦住它的危险念头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332720" cy="15544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64792"/>
            <a:ext cx="9930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875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• 危险不只会来自用户诱导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• AI 自己也可能『想歪』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• 计划提权 / 导数据 / 转资金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• 等动手再拦往往太晚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• 要在『动手前』拦截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3E50"/>
                </a:solidFill>
                <a:latin typeface="微软雅黑"/>
                <a:ea typeface="微软雅黑"/>
              </a:rPr>
              <a:t>• 思维链防线应运而生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5074920" cy="2606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45643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怎么用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4617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思考过程传入 action_type = thinking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注入特征扫描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大模型判定兜底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命中即拦截并记录审计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实测：转走资金等被拦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删除所有用户被拦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383280"/>
            <a:ext cx="5074920" cy="2606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5643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闭环配合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840480"/>
            <a:ext cx="4617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输入防线管『进来的话』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输出防线管『出去的话』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思维链管『AI 脑子里的话』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三层形成完整闭环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拦截发生在风险产生那一刻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而非结果发生之后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04  审计与溯源：全程留痕、可校验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日志可溯源，改动任何一条都能被发现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332720" cy="15544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64792"/>
            <a:ext cx="9930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攻击类型自动标签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875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每条记录自动标注攻击类型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注入 / 隐私 / 违规 / 滥用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未授权工具 / 系统 / 其他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按天轮转归档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5074920" cy="2606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45643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哈希链防篡改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4617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每条记录含上一条哈希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环环相扣，改动即暴露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一键校验完整性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旧格式兼容校验不断链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383280"/>
            <a:ext cx="5074920" cy="2606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5643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管理能力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840480"/>
            <a:ext cx="4617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CSV 报表一键导出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Excel 直接打开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只读 Token 给查看者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耗时字段全程记录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05 · 业务接入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不懂内部机制也能接入 —— 黑箱 SDK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5029200" cy="2148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581912"/>
            <a:ext cx="4626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黑箱 SDK（推荐非技术用户）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45720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输入审核 → 大模型 → 工具防护 → 输出脱敏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拦截时抛出 GuardBlocked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原因可直接展示给用户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session / user 标识都不用管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SDK 自动处理全流程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几行代码获得完整防护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4937760" cy="2148840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480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4E79"/>
                </a:solidFill>
                <a:latin typeface="微软雅黑"/>
                <a:ea typeface="微软雅黑"/>
              </a:rPr>
              <a:t>from guard_sdk import Guard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4E79"/>
                </a:solidFill>
                <a:latin typeface="微软雅黑"/>
                <a:ea typeface="微软雅黑"/>
              </a:rPr>
              <a:t>guard = Guard(api_key="")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4E79"/>
                </a:solidFill>
                <a:latin typeface="微软雅黑"/>
                <a:ea typeface="微软雅黑"/>
              </a:rPr>
              <a:t>safe_llm = guard.wrap_llm(my_llm)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4E79"/>
                </a:solidFill>
                <a:latin typeface="微软雅黑"/>
                <a:ea typeface="微软雅黑"/>
              </a:rPr>
              <a:t>reply = safe_llm("用户说的话")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31920"/>
            <a:ext cx="10332720" cy="2194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005072"/>
            <a:ext cx="9930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标准 API 同样开放（精细控制）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89120"/>
            <a:ext cx="9875520" cy="1691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四环节：user_input / tool_call / tool_result / output，外加思维链 thinking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每个环节返回 decision / block_reason / risk_level / current_score / latency_ms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工具端可调用 validate-token 自证授权，防越权调用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SDK 与 API 双通道，业务侧按需选择，全程可观测可追溯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06 · 性能量化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网关自身开销约 1ms，损耗透明可查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554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P50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P95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48840"/>
            <a:ext cx="1033272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普通输入放行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402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0.9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2402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1.2 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834640"/>
            <a:ext cx="10332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926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工具调用放行 / 拦截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9260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1.0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9260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1.5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520440"/>
            <a:ext cx="1033272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6118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输出脱敏 + 水印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1.2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118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1.9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206240"/>
            <a:ext cx="10332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297679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大模型判定（可选）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29767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~0.9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29767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仅可疑内容触发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892040"/>
            <a:ext cx="10332720" cy="15544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965192"/>
            <a:ext cx="9930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349240"/>
            <a:ext cx="9875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网关自身开销 P50 约 1ms，平均与中位一致（keep-alive 长连接实测）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20 并发实测吞吐约 1280 请求 / 秒；每请求耗时写入响应与审计日志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若每次新建 TCP 连接会叠加约 20ms 握手开销，业务侧用连接池即可消除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06 · 安全自测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红队演练 + 误判测试，双向验证（61 攻击样本 / 90 正常样本）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5074920" cy="2331720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C9A227"/>
                </a:solidFill>
                <a:latin typeface="微软雅黑"/>
                <a:ea typeface="微软雅黑"/>
              </a:rPr>
              <a:t>攻击拦截率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074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93%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D6E4"/>
                </a:solidFill>
                <a:latin typeface="微软雅黑"/>
                <a:ea typeface="微软雅黑"/>
              </a:rPr>
              <a:t>拦截 57 / 61 种攻击手法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C9D6E4"/>
                </a:solidFill>
                <a:latin typeface="微软雅黑"/>
                <a:ea typeface="微软雅黑"/>
              </a:rPr>
              <a:t>越狱 15/15 · 工具 12/12 · 思维链 5/5 · 混淆 15/15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08760"/>
            <a:ext cx="5074920" cy="233172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572768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误拦截率（90 正常样本）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011680"/>
            <a:ext cx="5074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7 / 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971800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全部为隐私设计拦截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333756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纯误判 0：日常对话 / 订单号 / 改绑手机号全放行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69080"/>
            <a:ext cx="10332720" cy="2194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42232"/>
            <a:ext cx="9930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演练成果与边界说明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526280"/>
            <a:ext cx="9875520" cy="1691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判定引擎：本地 7B 初筛 + DeepSeek 云端终审（hybrid），语义级攻击（角色扮演 / 索取他人隐私）也能识别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修复 10 个真实漏洞：Base64 / HTML 实体 / Unicode 转义 / hex 解码、反写/拼音/谐音混淆、银行卡/邮箱误判、工具参数注入、XSS、批量数组、思维链危险意图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剩余穿透：3 个多轮铺垫单条（设计正确，靠语境分联动）· 1 个银行卡中性串（防订单号误判取舍）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多轮诱导 5 轮实测：前 4 轮无害铺垫放行，第 5 轮敏感请求联动拦截；误判全部为隐私设计拦截（纯误判 0）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07  部署与交付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8794"/>
                </a:solidFill>
                <a:latin typeface="微软雅黑"/>
                <a:ea typeface="微软雅黑"/>
              </a:rPr>
              <a:t>看得见、管得住、拿得走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332720" cy="15544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64792"/>
            <a:ext cx="9930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E79"/>
                </a:solidFill>
                <a:latin typeface="微软雅黑"/>
                <a:ea typeface="微软雅黑"/>
              </a:rPr>
              <a:t>绿色免安装 ZIP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875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解压即用，双击启动 GUI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无需安装 Python / Go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配置规则白名单开箱自带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跨平台：Windows / Linux / macOS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5074920" cy="2606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45643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Docker / 多实例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4617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镜像约 15MB 多阶段构建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一条命令启动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多实例 Redis 共享会话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单实例零依赖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383280"/>
            <a:ext cx="5074920" cy="2606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56432"/>
            <a:ext cx="46725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4E79"/>
                </a:solidFill>
                <a:latin typeface="微软雅黑"/>
                <a:ea typeface="微软雅黑"/>
              </a:rPr>
              <a:t>管理界面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840480"/>
            <a:ext cx="4617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Web 后台 + 图形面板 8 大页签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本地 / 云端 / 混合一键切换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配置 3 秒热加载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C3E50"/>
                </a:solidFill>
                <a:latin typeface="微软雅黑"/>
                <a:ea typeface="微软雅黑"/>
              </a:rPr>
              <a:t>• 管理 API 全部 Token 鉴权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3657600"/>
            <a:ext cx="192024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C9D6E4"/>
                </a:solidFill>
                <a:latin typeface="微软雅黑"/>
                <a:ea typeface="微软雅黑"/>
              </a:rPr>
              <a:t>安全交互守护智能体 · Security Guard Agent · v1.1.0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C9A227"/>
                </a:solidFill>
                <a:latin typeface="微软雅黑"/>
                <a:ea typeface="微软雅黑"/>
              </a:rPr>
              <a:t>把 AI 的能力，关进安全的笼子里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8FA9C6"/>
                </a:solidFill>
                <a:latin typeface="微软雅黑"/>
                <a:ea typeface="微软雅黑"/>
              </a:rPr>
              <a:t>绿色免安装版 · 解压即用 · 双击「启动GUI.bat」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