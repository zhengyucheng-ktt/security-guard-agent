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-1371600"/>
            <a:ext cx="3657600" cy="3657600"/>
          </a:xfrm>
          <a:prstGeom prst="ellipse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371600" y="5303520"/>
            <a:ext cx="3657600" cy="3657600"/>
          </a:xfrm>
          <a:prstGeom prst="ellipse">
            <a:avLst/>
          </a:prstGeom>
          <a:solidFill>
            <a:srgbClr val="1430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8FA9C6"/>
                </a:solidFill>
                <a:latin typeface="微软雅黑"/>
                <a:ea typeface="微软雅黑"/>
              </a:rPr>
              <a:t>A I   S E C U R I T Y   G A T E W A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1033272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800" b="1">
                <a:solidFill>
                  <a:srgbClr val="FFFFFF"/>
                </a:solidFill>
                <a:latin typeface="微软雅黑"/>
                <a:ea typeface="微软雅黑"/>
              </a:rPr>
              <a:t>安全交互守护智能体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>
                <a:solidFill>
                  <a:srgbClr val="C9D6E4"/>
                </a:solidFill>
                <a:latin typeface="微软雅黑"/>
                <a:ea typeface="微软雅黑"/>
              </a:rPr>
              <a:t>Security Guard Agent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4023360"/>
            <a:ext cx="265176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2976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C9A227"/>
                </a:solidFill>
                <a:latin typeface="微软雅黑"/>
                <a:ea typeface="微软雅黑"/>
              </a:rPr>
              <a:t>给你的业务智能体，装上一道多层安全门卫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76072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8FA9C6"/>
                </a:solidFill>
                <a:latin typeface="微软雅黑"/>
                <a:ea typeface="微软雅黑"/>
              </a:rPr>
              <a:t>绿色免安装版 v1.1.0  ·  2026 年 8 月  ·  面向 LLM 应用的多层风控网关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目录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41732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68880" y="143560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背景与痛点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46304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LLM 应用面临哪些安全风险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13055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2148840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产品定位与全链路防线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76272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43784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2862072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六大核心防线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889504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输入 / 工具 / 输出 / 反刷评 / 判定 / 思维链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3557015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80" y="3575303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审计与溯源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3602735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全程留痕，哈希链防篡改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270248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4288536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业务接入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315968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黑箱 SDK，几行代码搞定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983480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5001768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性能与安全自测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5029200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约 1ms 开销、84% 拦截、误判均为隐私设计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5696712"/>
            <a:ext cx="1097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C9A227"/>
                </a:solidFill>
                <a:latin typeface="微软雅黑"/>
                <a:ea typeface="微软雅黑"/>
              </a:rPr>
              <a:t>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5714999"/>
            <a:ext cx="3840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E4E79"/>
                </a:solidFill>
                <a:latin typeface="微软雅黑"/>
                <a:ea typeface="微软雅黑"/>
              </a:rPr>
              <a:t>部署与交付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742431"/>
            <a:ext cx="47548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A8794"/>
                </a:solidFill>
                <a:latin typeface="微软雅黑"/>
                <a:ea typeface="微软雅黑"/>
              </a:rPr>
              <a:t>绿色 ZIP / Docker / 多实例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01  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LLM 应用落地后，安全不再是'要不要防'，而是'怎么防'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801368"/>
            <a:ext cx="99303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四大核心风险 + 一个深层挑战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240280"/>
            <a:ext cx="9930384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提示注入 / 越狱 —— 几句'魔法话术'让 AI 吐出不该说的内容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数据泄露 —— 身份证、手机号、银行卡随对话悄悄流出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工具滥用 —— AI 被诱导调用删除、转账、提权等高危操作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刷单刷评 —— 批量机器人灌水、薅羊毛、恶意打差评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多轮诱导 —— 不直接问，铺垫几轮再套出敏感信息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编码混淆 —— 全角/Base64/HTML 实体变体绕过关键词检测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结论：防线必须同时布在输入—工具—输出全链路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02  产品定位与全链路防线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守护智能体，而不是限制智能体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80136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它是什么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240280"/>
            <a:ext cx="4672583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位置：站在业务 LLM 与用户 / 工具之间的透明安全网关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原则：默认拒绝，逐层验证通过才放行；规则可配置、误拦可调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形态：单文件服务 + 图形面板 + 黑箱 SDK，非技术用户也能接入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设计：每层防线独立可开关、可配置，按风险等级灵活组合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目标：安全与体验兼得——拦截恶意，不打扰正常用户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0136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全链路防线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4672583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用户 → 输入防线 → 业务 LLM → 工具防线 → 输出防线 → 用户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输入防线：规则引擎 + 混淆归一 + 多轮语境分 + 大模型兜底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工具防线：白名单 + 参数校验 + 30 秒 JWT 令牌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输出防线：脱敏 + 零宽水印 + 差分隐私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思维链监控管住'AI 脑子里的话'，三层形成闭环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审计全程留痕：每个判定都可溯源、可校验、可导出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六大核心防线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覆盖 LLM 应用全生命周期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691639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E4E79"/>
                </a:solidFill>
                <a:latin typeface="微软雅黑"/>
                <a:ea typeface="微软雅黑"/>
              </a:rPr>
              <a:t>输入检测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2377439"/>
            <a:ext cx="2834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关键词/正则/自然语言三层规则，可疑内容大模型兜底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91639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E4E79"/>
                </a:solidFill>
                <a:latin typeface="微软雅黑"/>
                <a:ea typeface="微软雅黑"/>
              </a:rPr>
              <a:t>提示注入防御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377439"/>
            <a:ext cx="2834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编码混淆归一化、间接注入扫描、多轮会话语境分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79" y="15087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59" y="1691639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E4E79"/>
                </a:solidFill>
                <a:latin typeface="微软雅黑"/>
                <a:ea typeface="微软雅黑"/>
              </a:rPr>
              <a:t>工具调用防护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377439"/>
            <a:ext cx="2834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高危拦截、白名单授权、参数深度校验、JWT 令牌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420624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E4E79"/>
                </a:solidFill>
                <a:latin typeface="微软雅黑"/>
                <a:ea typeface="微软雅黑"/>
              </a:rPr>
              <a:t>输出防护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892040"/>
            <a:ext cx="2834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10 类信息脱敏、零宽水印、差分隐私噪声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34840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420624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E4E79"/>
                </a:solidFill>
                <a:latin typeface="微软雅黑"/>
                <a:ea typeface="微软雅黑"/>
              </a:rPr>
              <a:t>反刷评风控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892040"/>
            <a:ext cx="2834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内容去重、账号/IP 聚合限流、信誉分、机器行为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955279" y="4023360"/>
            <a:ext cx="329184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38159" y="4206240"/>
            <a:ext cx="29260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900" b="1">
                <a:solidFill>
                  <a:srgbClr val="1E4E79"/>
                </a:solidFill>
                <a:latin typeface="微软雅黑"/>
                <a:ea typeface="微软雅黑"/>
              </a:rPr>
              <a:t>审计溯源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892040"/>
            <a:ext cx="28346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攻击类型标签、防篡改哈希链、CSV 报表、只读 Token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输入防线：把住用户说的话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四层机制协同，识别并拦截恶意输入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4173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801368"/>
            <a:ext cx="99303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三层规则引擎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240280"/>
            <a:ext cx="993038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关键词规则（rules.txt）：命中即拦截，可随时增删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正则规则：身份证、手机号（带词边界防误判）等自动识别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自然语言规则（nlp_rules.json）：描述意图自动生成规则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全部支持 3 秒热加载，改完即生效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46120"/>
            <a:ext cx="5074920" cy="27432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35584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对抗混淆归一化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794759"/>
            <a:ext cx="4672583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全角字符、多余空格、零宽字符先归一化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URL 编码、Base64（含前缀/双层）、HTML 实体、Unicode 转义解码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'忽 略 规 则'、B64、&amp;#x89c4;、\u89c4 变体照样识别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先解码再检测，编码绕不过规则层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246120"/>
            <a:ext cx="5074920" cy="27432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35584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多轮渐进式注入防御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794759"/>
            <a:ext cx="4672583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铺垫词累积'会话语境分' → 达标升级审查 → 敏感联动拦截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实测：5 轮诱导前 4 轮无害放行，第 5 轮敏感请求被拦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低风险内容自动改写：手机号等 PII 先脱敏再放行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不误拦正常对话，只拦真正越界的那一步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工具防线：管住 AI 能做的事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四步把关，高危操作层层设卡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80136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调用前四步检查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240280"/>
            <a:ext cx="4672583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① 白名单：不在白名单的工具直接拦截，高危工具必拦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② 参数清洗：内置工具按允许键过滤，未声明键消毒剔除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③ 深度校验：SQL 注入 / 路径遍历 / XSS / 批量 / 敏感参数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④ 授权令牌：生成 30 秒有效 JWT，工具端可自证授权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数组批量参数 ≥5 项视为批量操作，≤4 项正常放行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0136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工具结果回传也设防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4672583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网页 / 文档等工具返回内容可能携带恶意指令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返回内容进模型上下文前先扫描（间接注入防御）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命中即拦截并记录审计，防止'带毒内容'污染模型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思维链（thinking）同步检测 AI 自主产生的危险思路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输出防线：护住出去的每一句话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脱敏 + 水印 + 差分隐私，三道保险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4173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801368"/>
            <a:ext cx="99303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动态分级脱敏（10 类信息）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240280"/>
            <a:ext cx="993038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手机号、身份证、银行卡、邮箱、IP、姓名、地址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车牌、营业执照、微信号共 10 类自动识别脱敏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示例：13212345678 → 132****5678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按角色策略分级：full / partial / minimal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46120"/>
            <a:ext cx="5074920" cy="27432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35584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零宽字符水印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794759"/>
            <a:ext cx="4672583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每份输出嵌入肉眼不可见的唯一身份标记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一旦内容外泄，提取水印即可定位会话与用户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防截图外传、防数据二次分发溯源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246120"/>
            <a:ext cx="5074920" cy="27432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35584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差分隐私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794759"/>
            <a:ext cx="4672583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对统计数字加入 Laplace 噪声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防止从聚合结果反推个体数据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适合'本月销量'等统计型输出场景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反刷评与账号风控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让机器灌水、批量薅羊毛无处遁形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80136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四重反刷机制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240280"/>
            <a:ext cx="4672583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内容去重：相同 / 相似内容在时间窗内重复提交即拦截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聚合限流：账号维度 + IP 维度双重限流，突增自动限速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信誉分：跨会话累计，行为越差分越低，低到阈值自动处置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机器行为检测：请求间隔过于均匀 → 疑似自动化脚本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实测：同一内容 10 分钟内重复提交被拦截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691640"/>
            <a:ext cx="5074920" cy="42976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80136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会话风险积分（自动升级）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240280"/>
            <a:ext cx="4672583" cy="3566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30 分警告 → 60 分限流 → 80 分终止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拦截行为也累计积分，持续违规逐级加压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管理端可一键解封 / 手动封禁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内存模式积分持久化，重启不丢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· 判定引擎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安全审核的'大模型法官'，三种模式 GUI 一键切换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模式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554480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逻辑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1554480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适合场景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5856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本地 local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225856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只用本地 Ollama 模型，数据不出网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95360" y="225856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金融/医疗/政务、内网离线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926080"/>
            <a:ext cx="103327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03580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云端 cloud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303580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OpenAI 兼容 API，判定能力最强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95360" y="303580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判定力优先、数据敏感度低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703320"/>
            <a:ext cx="10332720" cy="68580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813048"/>
            <a:ext cx="31089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混合 hybrid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813048"/>
            <a:ext cx="4023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本地初筛 + 云端终审，双保险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95360" y="3813048"/>
            <a:ext cx="2560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兼顾隐私与判定力（推荐）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470916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15568" y="4818888"/>
            <a:ext cx="99303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引擎不可用时的失败策略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5568" y="5257800"/>
            <a:ext cx="9930384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fallback（推荐）：自动降级到另一引擎，本地 ↔ 云端互为备份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block：直接拦截（fail-closed，最安全）· allow：直接放行（fail-open，有风险）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判定缓存 30 秒：相同内容重复审查零开销；配置 3 秒热加载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03  思维链监控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AI 动手之前，先拦住它的危险念头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4173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801368"/>
            <a:ext cx="99303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为什么需要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240280"/>
            <a:ext cx="993038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危险不只会来自用户诱导——AI 自己也可能'想歪'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计划提权、导出数据、转走资金等危险意图可能自主产生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等 AI 真正动手再拦往往太晚，要在'动手前'拦截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46120"/>
            <a:ext cx="5074920" cy="27432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35584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怎么用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794759"/>
            <a:ext cx="4672583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业务智能体把思考过程传入（action_type = thinking）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注入特征扫描 + 大模型判定，命中即拦截并记录审计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实测：'转走资金''删除所有用户'等思考被拦截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246120"/>
            <a:ext cx="5074920" cy="27432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35584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闭环配合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794759"/>
            <a:ext cx="4672583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输入防线管'进来的话'，输出防线管'出去的话'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思维链防线管'AI 脑子里的话'，三层形成完整闭环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拦截发生在风险产生的那一刻，而非结果发生之后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04  审计与溯源：全程留痕、可校验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日志 100% 可溯源，改动任何一条都能被发现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4173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801368"/>
            <a:ext cx="99303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攻击类型自动标签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240280"/>
            <a:ext cx="993038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每条审计记录自动标注攻击类型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提示注入 / 隐私泄露 / 违规内容 / 滥用 / 未授权工具 / 系统 / 其他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按天轮转归档：audit-YYYYMMDD.log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异步写入不丢审计，队列满降级同步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46120"/>
            <a:ext cx="5074920" cy="27432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35584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哈希链防篡改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794759"/>
            <a:ext cx="4672583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每条记录包含上一条的哈希，环环相扣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一键'校验完整性'，任何改动立即暴露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旧格式记录兼容校验，升级不断链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246120"/>
            <a:ext cx="5074920" cy="27432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35584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管理能力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794759"/>
            <a:ext cx="4672583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CSV 报表一键导出，Excel 直接打开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只读 Token 给'只能看不能改'的同事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耗时字段全程记录（latency_ms / llm_ms）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05 · 业务接入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不懂内部机制也能接入 —— 黑箱 SDK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29200" cy="21031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618488"/>
            <a:ext cx="462686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黑箱 SDK（推荐非技术用户）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057400"/>
            <a:ext cx="4626864" cy="13715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输入审核 → 大模型 → 工具防护 → 输出脱敏，自动完成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拦截时抛出 GuardBlocked，原因可直接展示给用户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连 session / user 标识都不用管，SDK 自动处理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508760"/>
            <a:ext cx="4937760" cy="2103120"/>
          </a:xfrm>
          <a:prstGeom prst="roundRect">
            <a:avLst/>
          </a:prstGeom>
          <a:solidFill>
            <a:srgbClr val="EDF1F5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645920"/>
            <a:ext cx="44805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from guard_sdk import Guard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guard = Guard(api_key="")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safe_llm = guard.wrap_llm(my_llm)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1E4E79"/>
                </a:solidFill>
                <a:latin typeface="微软雅黑"/>
                <a:ea typeface="微软雅黑"/>
              </a:rPr>
              <a:t>reply = safe_llm("用户说的话")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14400" y="3886200"/>
            <a:ext cx="10332720" cy="22860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3995928"/>
            <a:ext cx="99303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标准 API 同样开放（精细控制）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4434840"/>
            <a:ext cx="9930384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四环节：user_input / tool_call / tool_result / output，外加思维链 thinking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每个环节返回 decision / block_reason / risk_level / current_score / latency_ms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工具端可调用 /v1/guard/validate-token 自证授权，防越权调用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SDK 与 API 双通道，业务侧按需选择，全程可观测可追溯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性能量化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网关自身开销约 1ms，损耗透明可查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1508760"/>
            <a:ext cx="10332720" cy="548640"/>
          </a:xfrm>
          <a:prstGeom prst="rect">
            <a:avLst/>
          </a:prstGeom>
          <a:solidFill>
            <a:srgbClr val="1E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15544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场景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15544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P50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0" y="15544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微软雅黑"/>
                <a:ea typeface="微软雅黑"/>
              </a:rPr>
              <a:t>P95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1488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402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普通输入放行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22402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0.9 ms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0" y="22402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" y="28346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29260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工具调用放行/拦截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0" y="29260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1.0 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0" y="29260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1.5 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3520440"/>
            <a:ext cx="10332720" cy="594360"/>
          </a:xfrm>
          <a:prstGeom prst="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611880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输出脱敏+水印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611880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1.2 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0" y="3611880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1.9 ms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4400" y="4206240"/>
            <a:ext cx="103327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297679"/>
            <a:ext cx="4114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E4E79"/>
                </a:solidFill>
                <a:latin typeface="微软雅黑"/>
                <a:ea typeface="微软雅黑"/>
              </a:rPr>
              <a:t>大模型判定（可选）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0" y="4297679"/>
            <a:ext cx="2286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2C3E50"/>
                </a:solidFill>
                <a:latin typeface="微软雅黑"/>
                <a:ea typeface="微软雅黑"/>
              </a:rPr>
              <a:t>~0.9 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0" y="4297679"/>
            <a:ext cx="2743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2C3E50"/>
                </a:solidFill>
                <a:latin typeface="微软雅黑"/>
                <a:ea typeface="微软雅黑"/>
              </a:rPr>
              <a:t>仅可疑内容触发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4892040"/>
            <a:ext cx="10332720" cy="155448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15568" y="5001768"/>
            <a:ext cx="99303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结论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5440679"/>
            <a:ext cx="9930384" cy="82295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网关自身开销 P50 约 1ms，平均与中位一致（keep-alive 长连接实测）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20 并发实测吞吐约 1280 请求/秒；每请求耗时写入响应与审计日志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若每次新建 TCP 连接会叠加约 20ms 握手开销，业务侧用连接池即可消除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06 · 安全自测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红队演练 + 误判测试，双向验证（61 攻击样本 / 90 正常样本）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508760"/>
            <a:ext cx="5074920" cy="2286000"/>
          </a:xfrm>
          <a:prstGeom prst="round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C9A227"/>
                </a:solidFill>
                <a:latin typeface="微软雅黑"/>
                <a:ea typeface="微软雅黑"/>
              </a:rPr>
              <a:t>攻击拦截率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0312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84%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06324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C9D6E4"/>
                </a:solidFill>
                <a:latin typeface="微软雅黑"/>
                <a:ea typeface="微软雅黑"/>
              </a:rPr>
              <a:t>拦截 51 / 61 种攻击手法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429000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C9D6E4"/>
                </a:solidFill>
                <a:latin typeface="微软雅黑"/>
                <a:ea typeface="微软雅黑"/>
              </a:rPr>
              <a:t>越狱 14/15 · 工具 12/12 · 思维链 5/5 · 混淆 16/19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9632" y="1508760"/>
            <a:ext cx="5074920" cy="2286000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99632" y="160020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FFFFFF"/>
                </a:solidFill>
                <a:latin typeface="微软雅黑"/>
                <a:ea typeface="微软雅黑"/>
              </a:rPr>
              <a:t>误拦截率（90 正常样本）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99632" y="2103120"/>
            <a:ext cx="5074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微软雅黑"/>
                <a:ea typeface="微软雅黑"/>
              </a:rPr>
              <a:t>7 / 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9632" y="3063240"/>
            <a:ext cx="5074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FFFFFF"/>
                </a:solidFill>
                <a:latin typeface="微软雅黑"/>
                <a:ea typeface="微软雅黑"/>
              </a:rPr>
              <a:t>全部为隐私设计拦截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9632" y="3429000"/>
            <a:ext cx="5074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FFFFFF"/>
                </a:solidFill>
                <a:latin typeface="微软雅黑"/>
                <a:ea typeface="微软雅黑"/>
              </a:rPr>
              <a:t>纯误判 0：日常对话/订单号/改绑手机号全放行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14400" y="4023360"/>
            <a:ext cx="10332720" cy="23317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5568" y="4133088"/>
            <a:ext cx="99303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演练成果与边界说明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5568" y="4572000"/>
            <a:ext cx="9930384" cy="160019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修复 8 个真实漏洞：Base64（含双层）/HTML实体/Unicode 转义解码、银行卡/邮箱误判、工具参数注入、XSS、批量数组、思维链危险意图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剩余穿透：hex 编码、反写、拼音、谐音等罕见变体，以及多轮铺垫单条（设计正确）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多轮诱导 5 轮实测：前 4 轮无害铺垫放行，第 5 轮敏感请求联动拦截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隐私拦截为设计行为（输入侧防泄露），开启'自动改写'后手机号等脱敏放行，对话不中断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"/>
            <a:ext cx="109728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</a:rPr>
              <a:t>07  部署与交付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07008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7A8794"/>
                </a:solidFill>
                <a:latin typeface="微软雅黑"/>
                <a:ea typeface="微软雅黑"/>
              </a:rPr>
              <a:t>看得见、管得住、拿得走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91640"/>
            <a:ext cx="10332720" cy="141732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1801368"/>
            <a:ext cx="9930384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绿色免安装 ZIP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240280"/>
            <a:ext cx="9930384" cy="685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解压即用，双击「启动GUI.bat」即可启动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无需安装 Python / Go，Windows 直接运行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配置 / 规则 / 白名单全部开箱自带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3246120"/>
            <a:ext cx="5074920" cy="27432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15568" y="335584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Docker / 多实例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5568" y="3794759"/>
            <a:ext cx="4672583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Docker 镜像约 15MB，多阶段构建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一条命令启动：docker run -p 8080:8080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多实例用 Redis 共享会话，单实例零依赖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9632" y="3246120"/>
            <a:ext cx="5074920" cy="2743200"/>
          </a:xfrm>
          <a:prstGeom prst="roundRect">
            <a:avLst/>
          </a:prstGeom>
          <a:solidFill>
            <a:srgbClr val="F4F6F8"/>
          </a:solidFill>
          <a:ln w="12700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355848"/>
            <a:ext cx="4672583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E4E79"/>
                </a:solidFill>
                <a:latin typeface="微软雅黑"/>
                <a:ea typeface="微软雅黑"/>
              </a:rPr>
              <a:t>管理界面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794759"/>
            <a:ext cx="4672583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Web 后台 /admin + 图形面板 8 大页签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本地 / 云端 / 混合模式一键切换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2C3E50"/>
                </a:solidFill>
                <a:latin typeface="微软雅黑"/>
                <a:ea typeface="微软雅黑"/>
              </a:rPr>
              <a:t>• 配置 3 秒热加载，改完即生效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32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377440"/>
            <a:ext cx="103327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微软雅黑"/>
                <a:ea typeface="微软雅黑"/>
              </a:rPr>
              <a:t>谢谢观看</a:t>
            </a:r>
          </a:p>
        </p:txBody>
      </p:sp>
      <p:sp>
        <p:nvSpPr>
          <p:cNvPr id="4" name="Rectangle 3"/>
          <p:cNvSpPr/>
          <p:nvPr/>
        </p:nvSpPr>
        <p:spPr>
          <a:xfrm>
            <a:off x="5120640" y="3657600"/>
            <a:ext cx="1920240" cy="3657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393192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>
                <a:solidFill>
                  <a:srgbClr val="C9D6E4"/>
                </a:solidFill>
                <a:latin typeface="微软雅黑"/>
                <a:ea typeface="微软雅黑"/>
              </a:rPr>
              <a:t>安全交互守护智能体 · Security Guard Agent · v1.1.0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0">
                <a:solidFill>
                  <a:srgbClr val="C9A227"/>
                </a:solidFill>
                <a:latin typeface="微软雅黑"/>
                <a:ea typeface="微软雅黑"/>
              </a:rPr>
              <a:t>把 AI 的能力，关进安全的笼子里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5216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8FA9C6"/>
                </a:solidFill>
                <a:latin typeface="微软雅黑"/>
                <a:ea typeface="微软雅黑"/>
              </a:rPr>
              <a:t>绿色免安装版 · 解压即用 · 双击「启动GUI.bat」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