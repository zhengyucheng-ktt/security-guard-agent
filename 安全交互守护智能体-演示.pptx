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性能量化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 · P50/P95 · 并发吞吐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质量与验收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安全自测 · 自动化测试 · PRD 达标对照 · 开箱即测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640994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6428231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645566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多实例（单实例零依赖）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LLM 应用面临的八大风险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几句'魔法话术'就让 AI 吐出不该说的内容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 / Base64 / HTML 实体等变体绕过关键词检测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思维链风险 —— AI 自己也可能产生提权、导数据、转资金的念头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合规压力 —— 数据出境与隐私保护法规提出更高安全要求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结论：防线必须同时布在『输入 — 工具 — 输出』全链路，单点防护防不住组合攻击，需要多层协同纵深防御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守护智能体，而不是限制智能体——安全与体验兼得，每层防线独立可开关，按业务风险等级灵活组合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·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161032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17648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7648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输入防线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38600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95216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95216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业务 LLM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16168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2784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工具防线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793736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50352" y="1463040"/>
            <a:ext cx="1493520" cy="105156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0352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输出防线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71304" y="1897379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27920" y="1463040"/>
            <a:ext cx="1493520" cy="10515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27920" y="1463040"/>
            <a:ext cx="1493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用户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060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全链路防线：每一层独立可开关、可配置；思维链监控管住『AI 脑子里的话』，三层形成闭环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568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定位：业务 LLM 与用户 / 工具之间的透明安全网关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规则可配置、误拦可调、可解释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非技术用户几行代码即可接入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部署：单机零依赖，也可多实例水平扩展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安全与体验兼得：拦截恶意行为，不打扰正常用户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063240"/>
            <a:ext cx="5074920" cy="30175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1363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各层防线明细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520440"/>
            <a:ext cx="4617720" cy="251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 + 混淆归一 + 语境分 + 大模型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思维链监控：AI 动手前拦截危险念头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反刷评：去重 + 限流 + 信誉分 + 机器行为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审计溯源：攻击标签 + 哈希链 + 报表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拦截发生在风险产生的那一刻，而非结果发生之后——三层防线形成完整闭环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六大防线模块，覆盖 LLM 应用全生命周期 · 每个模块都经过自动化测试验证，可单独开关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关键词 / 正则 / 自然语言三层规则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可疑内容大模型兜底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混淆变体先解码再检测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编码混淆归一化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间接注入扫描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多轮会话语境分联动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45919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1945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高危工具拦截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白名单授权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参数深度校验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JWT 授权令牌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10 类信息脱敏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零宽字符水印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内容去重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账号/IP 聚合限流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信誉分升级处置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160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709160"/>
            <a:ext cx="283464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攻击类型标签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防篡改哈希链</a:t>
            </a:r>
          </a:p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CSV 报表 + 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四道关卡：规则拦截 · 编码归一 · 多轮语境 · 低风险改写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关键词规则：命中即拦截，可随时增删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 / 手机号（带词边界防误判）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自然语言规则：描述意图自动生成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全部配置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19659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全角 / 空格 / 零宽字符先归一化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URL / Base64 / HTML 实体 / Unicode 转义解码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 变体照样识别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铺垫词累积『会话语境分』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达标后升级审查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敏感请求联动拦截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实测：5 轮诱导前 4 轮无害放行，第 5 轮敏感请求被拦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4023360"/>
            <a:ext cx="507492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965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低风险自动改写（可选）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4480560"/>
            <a:ext cx="46177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输入含手机号 / 身份证等 PII 但不构成攻击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自动脱敏后放行，对话不中断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13212345678 → 132****5678，业务侧拿到改写结果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白名单授权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9816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56432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参数清洗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16168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72784" y="1463040"/>
            <a:ext cx="2432304" cy="96012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2784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深度校验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732519" y="18516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89136" y="1463040"/>
            <a:ext cx="2432304" cy="9601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89136" y="1463040"/>
            <a:ext cx="2432304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④ 授权令牌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任一环节不通过即拦截并记审计；高危工具（删除 / 转账 / 提权）必拦；数组批量 ≥5 项视为批量操作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白名单授权：不在白名单直接拦截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高危工具（删除 / 转账 / 提权）必拦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参数清洗：允许键过滤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未声明字符串键消毒剔除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/ 路径遍历 / XSS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敏感参数检测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授权令牌：30 秒有效 JWT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工具端可自证授权，防止令牌冒用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校验失败即拦截并记审计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971800"/>
            <a:ext cx="5074920" cy="3108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304495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429000"/>
            <a:ext cx="4617720" cy="2606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网页 / 文档返回内容可能携带恶意指令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进模型上下文前先扫描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间接注入命中即拦截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记录审计，防止污染模型上下文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思维链同步检测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AI 自主产生的危险思路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在动手前拦截，三层防线形成闭环；高危工具拦截率实测 12/12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手机 / 身份证 / 银行卡 / 邮箱 / IP / 姓名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• 地址 / 车牌 / 营业执照 / 微信号</a:t>
            </a:r>
          </a:p>
          <a:p>
            <a:pPr>
              <a:lnSpc>
                <a:spcPct val="60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示例：13212345678 → 132****5678</a:t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输出嵌入肉眼不可见身份标记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内容外泄可定位会话与用户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防截图外传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防数据二次分发溯源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与脱敏互补，双重保险；水印提取 GUI 一键完成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统计数字加 Laplace 噪声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适合统计型输出场景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可选开关，按需启用；不影响正常数值读取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① 内容去重：相同 / 相似内容在时间窗内重复提交即拦截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② 聚合限流：账号维度 + IP 维度双重限流，突增流量自动限速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③ 信誉分：跨会话累计，行为越差分越低，低到阈值自动限流 / 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④ 机器行为检测：请求间隔过于均匀 → 疑似自动化脚本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四重机制层层叠加，单点失效仍有兜底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实测：重复提交被拦截，编码相似变体同样命中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76479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28232" y="2148840"/>
            <a:ext cx="461772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管理端一键解封 / 手动封禁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共享，积分变化全程审计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与信誉分联动，跨会话累计打击惯犯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安全审核的『大模型法官』：本地模型 / 云端模型，可组合成混合双保险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混合模式判定流程（本地模型初筛 → 云端模型终审）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可疑内容触发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36545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3161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93161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本地模型初筛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789627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46243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46243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判安全→云端终审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042708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99324" y="1828800"/>
            <a:ext cx="1869033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324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云端模型判定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295790" y="219456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652406" y="1828800"/>
            <a:ext cx="1869033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52406" y="1828800"/>
            <a:ext cx="1869033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拦截 / 放行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283464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本地判风险直接拦截（数据不出网）；本地判安全才升级云端复核；30 秒判定缓存命中零开销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3291840"/>
            <a:ext cx="10332720" cy="50292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3328416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32841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328416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3886200"/>
            <a:ext cx="10332720" cy="566928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395935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本地模型 local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395935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只用本机 Ollama（qwen2.5:7b），数据不出网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395935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金融 / 医疗 / 政务、内网离线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4526280"/>
            <a:ext cx="10332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4599432"/>
            <a:ext cx="3108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云端模型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0" y="4599432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OpenAI 兼容 API（DeepSeek 等），判定力最强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599432"/>
            <a:ext cx="2560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230368"/>
            <a:ext cx="10332720" cy="5486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285232"/>
            <a:ext cx="99669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6324F"/>
                </a:solidFill>
                <a:latin typeface="微软雅黑"/>
                <a:ea typeface="微软雅黑"/>
              </a:rPr>
              <a:t>混合 hybrid = 本地模型 + 云端模型 组合：本地初筛 + 云端终审，双保险（兼顾隐私与判定力，推荐）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897880"/>
            <a:ext cx="10332720" cy="8229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568" y="59710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失败策略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55080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fallback 自动降级另一模型（推荐）· block 直接拦截（最安全）· allow 直接放行（有风险）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自己也可能『想歪』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计划提权 / 导数据 / 转资金等危险念头可能自主产生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等 AI 真正动手再拦往往太晚，要在『动手前』拦截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86200"/>
            <a:ext cx="2125979" cy="9555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思考过程传入 thinking 接口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1860" y="3886200"/>
            <a:ext cx="2125979" cy="9555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注入扫描 + 大模型判定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914900"/>
            <a:ext cx="2125979" cy="9555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命中即拦截并记录审计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1860" y="4914900"/>
            <a:ext cx="2125979" cy="95554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实测：转走资金 / 删除用户被拦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输入防线管『进来的话』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输出防线管『出去的话』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思维链管『AI 脑子里的话』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三层防线形成完整闭环，拦截发生在风险产生的那一刻，而非结果发生之后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·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每条记录自动标注攻击类型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19456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按天轮转归档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注入 / 隐私 / 违规 / 滥用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97480"/>
            <a:ext cx="4754880" cy="4297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未授权工具 / 系统 / 其他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每条记录含上一条哈希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环环相扣，改动即暴露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一键校验完整性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旧格式兼容校验不断链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Excel 直接打开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只读 Token 给查看者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三步接入，5 分钟跑通；黑箱 SDK 与标准 API 按需选择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① 解压启动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38600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5216" y="1463040"/>
            <a:ext cx="3371088" cy="9144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5216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② 配置密钥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793736" y="1828800"/>
            <a:ext cx="329184" cy="182880"/>
          </a:xfrm>
          <a:prstGeom prst="right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50352" y="1463040"/>
            <a:ext cx="3371088" cy="914400"/>
          </a:xfrm>
          <a:prstGeom prst="round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0352" y="1463040"/>
            <a:ext cx="3371088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微软雅黑"/>
                <a:ea typeface="微软雅黑"/>
              </a:rPr>
              <a:t>③ 代码接入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68880"/>
            <a:ext cx="10881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7A8794"/>
                </a:solidFill>
                <a:latin typeface="微软雅黑"/>
                <a:ea typeface="微软雅黑"/>
              </a:rPr>
              <a:t>绿色 ZIP 解压即用 → GUI 生成业务密钥（guard_api_key）→ 一行代码接入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926080"/>
            <a:ext cx="4937760" cy="23774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999232"/>
            <a:ext cx="453542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83280"/>
            <a:ext cx="448056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一行包装你的大模型，自动完成全套防护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输入审核 → 工具防护 → 输出脱敏，无需关心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session / user 标识都不用管，SDK 自动处理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26080"/>
            <a:ext cx="5029200" cy="237744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30632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接入示例（仅 4 行代码）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52044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guard = Guard(api_key="你的密钥")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5532120"/>
            <a:ext cx="10332720" cy="10972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560527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API（精细控制，适合深度集成）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989320"/>
            <a:ext cx="9875520" cy="59435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• 四环节 user_input / tool_call / tool_result / output + 思维链 thinking；每个环节返回 decision / block_reason / risk_level / latency_ms；工具端 validate-token 自证授权</a:t>
            </a:r>
          </a:p>
          <a:p>
            <a:pPr>
              <a:lnSpc>
                <a:spcPct val="60000"/>
              </a:lnSpc>
            </a:pPr>
            <a:r>
              <a:rPr sz="8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800" b="1">
                <a:solidFill>
                  <a:srgbClr val="1E4E79"/>
                </a:solidFill>
                <a:latin typeface="微软雅黑"/>
                <a:ea typeface="微软雅黑"/>
              </a:rPr>
              <a:t>两种方式按需选择：要省事用 SDK，要精细控制用 API，全程可观测可追溯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 / 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 + 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49651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3492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网关自身开销 P50 约 1ms，平均与中位一致（keep-alive 长连接实测）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20 并发实测吞吐约 1280 请求 / 秒；每请求耗时写入响应与审计日志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验收标准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Quality Gates · 交付验证 + PRD 硬性指标 + 开箱即测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6517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58191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交付验证（研发侧质量）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65960"/>
            <a:ext cx="4617720" cy="2148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67 项自动化测试全部通过（go test ./...）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9/9 端到端冒烟验证：真实打包二进制实测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6 套对抗/误判/性能测试脚本可随时复跑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构建与 GUI 编译通过，覆盖 CI 检查项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审计哈希链 100% 可溯源、可校验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508760"/>
            <a:ext cx="5074920" cy="265176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99632" y="1572768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C9A227"/>
                </a:solidFill>
                <a:latin typeface="微软雅黑"/>
                <a:ea typeface="微软雅黑"/>
              </a:rPr>
              <a:t>PRD 核心验收标准（达标对照）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103120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越狱 / 高危注入识别率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103120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496312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误拦截率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496312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≤ 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2496312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889504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多轮诱导识别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889504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≥ 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12680" y="2889504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282696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高危工具拦截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3282696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282696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675888"/>
            <a:ext cx="2377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FFFFFF"/>
                </a:solidFill>
                <a:latin typeface="微软雅黑"/>
                <a:ea typeface="微软雅黑"/>
              </a:rPr>
              <a:t>审计日志可溯源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675888"/>
            <a:ext cx="11887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C9D6E4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12680" y="3675888"/>
            <a:ext cx="1234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8FE0A8"/>
                </a:solidFill>
                <a:latin typeface="微软雅黑"/>
                <a:ea typeface="微软雅黑"/>
              </a:rPr>
              <a:t>✅ 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9632" y="3886200"/>
            <a:ext cx="50749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实测满足全部硬性指标（实测数据详见『安全自测』页）</a:t>
            </a:r>
          </a:p>
          <a:p>
            <a:pPr algn="ctr">
              <a:lnSpc>
                <a:spcPct val="115000"/>
              </a:lnSpc>
            </a:pPr>
            <a:r>
              <a:rPr sz="950" b="0">
                <a:solidFill>
                  <a:srgbClr val="C9D6E4"/>
                </a:solidFill>
                <a:latin typeface="微软雅黑"/>
                <a:ea typeface="微软雅黑"/>
              </a:rPr>
              <a:t>本地模式 ≥93%，混合模式全面达标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343400"/>
            <a:ext cx="10332720" cy="17830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434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E4E79"/>
                </a:solidFill>
                <a:latin typeface="微软雅黑"/>
                <a:ea typeface="微软雅黑"/>
              </a:rPr>
              <a:t>开箱即测 · 拿到手就能验收的两个黑盒用例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用例一：发送『我的号码13212345678请登记』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放行 ✅，返回改写结果 132****5678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（自动脱敏，对话不中断）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4937760"/>
            <a:ext cx="4846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用例二：同一内容 10 分钟内重复提交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→ 拦截 ✅（防刷屏）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（管理后台可实时查看审计与拦截原因）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· 质量与验收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本地 7B vs 本地+DeepSeek 混合，三套测试集对比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33172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本地 7B（仅本地模型）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C9D6E4"/>
                </a:solidFill>
                <a:latin typeface="微软雅黑"/>
                <a:ea typeface="微软雅黑"/>
              </a:rPr>
              <a:t>基础攻击 55/61 · 变体 91/98（93%）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语义专项 15/20（75%）· 越狱 14/15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33172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572768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混合（本地 + DeepSeek）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01168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93%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29718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</a:rPr>
              <a:t>基础攻击 57/61 · 变体 98/98（100%）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337560"/>
            <a:ext cx="5074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语义专项 16/20（80%）· 越狱 15/15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69080"/>
            <a:ext cx="10332720" cy="219456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4223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三套测试集对比（对抗测试报告）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526280"/>
            <a:ext cx="9875520" cy="16916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基础攻击（61）本地 90% → 混合 93%　·　自动变体（98，同义词/编码/角色/谐音）本地 93% → 混合 100%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语义级专项（20，角色扮演/隐喻/社工）：本地 75% → 混合 80%——剩余为纯隐喻与模糊社工（'锁着的门后面是什么'），属 AI 安全领域公认边界，需业务侧人工复核</a:t>
            </a:r>
          </a:p>
          <a:p>
            <a:pPr>
              <a:lnSpc>
                <a:spcPct val="6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 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结论：自动改写让用户报手机号/身份证自动脱敏放行（132****5678），误判归零且对话不中断；混合模式用于强对抗场景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08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764792"/>
            <a:ext cx="99303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48840"/>
            <a:ext cx="98755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解压即用，双击启动 GUI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配置规则白名单开箱自带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跨平台：Windows / Linux / macOS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镜像约 15MB 多阶段构建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一条命令启动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多实例 Redis 共享会话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单实例完全不需要 Redis（零依赖）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074920" cy="260604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56432"/>
            <a:ext cx="46725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3840480"/>
            <a:ext cx="4617720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Web 后台 + 图形面板 8 大页签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混合一键切换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• 管理 API 全部 Token 鉴权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