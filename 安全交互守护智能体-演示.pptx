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-1371600"/>
            <a:ext cx="3657600" cy="3657600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371600" y="5303520"/>
            <a:ext cx="3657600" cy="3657600"/>
          </a:xfrm>
          <a:prstGeom prst="ellipse">
            <a:avLst/>
          </a:prstGeom>
          <a:solidFill>
            <a:srgbClr val="143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>
                <a:solidFill>
                  <a:srgbClr val="8FA9C6"/>
                </a:solidFill>
                <a:latin typeface="微软雅黑"/>
                <a:ea typeface="微软雅黑"/>
              </a:rPr>
              <a:t>A I   S E C U R I T Y   G A T E W A 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10332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800" b="1">
                <a:solidFill>
                  <a:srgbClr val="FFFFFF"/>
                </a:solidFill>
                <a:latin typeface="微软雅黑"/>
                <a:ea typeface="微软雅黑"/>
              </a:rPr>
              <a:t>安全交互守护智能体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0040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>
                <a:solidFill>
                  <a:srgbClr val="C9D6E4"/>
                </a:solidFill>
                <a:latin typeface="微软雅黑"/>
                <a:ea typeface="微软雅黑"/>
              </a:rPr>
              <a:t>Security Guard Agent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0" y="4023360"/>
            <a:ext cx="2651760" cy="3657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29768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C9A227"/>
                </a:solidFill>
                <a:latin typeface="微软雅黑"/>
                <a:ea typeface="微软雅黑"/>
              </a:rPr>
              <a:t>给你的业务智能体，装上一道多层安全门卫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6072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8FA9C6"/>
                </a:solidFill>
                <a:latin typeface="微软雅黑"/>
                <a:ea typeface="微软雅黑"/>
              </a:rPr>
              <a:t>绿色免安装版 v1.1.0  ·  2026 年 8 月  ·  面向 LLM 应用的多层风控网关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417320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1435608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背景与痛点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46304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LLM 应用面临哪些安全风险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130552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148840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产品定位与全链路防线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176272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守护智能体，而不是限制智能体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843784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862072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六大核心防线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889504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输入 / 工具 / 输出 / 反刷评 / 判定引擎 / 思维链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557015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3575303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审计与溯源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602735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全程留痕，哈希链防篡改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4270248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4288536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业务接入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4315968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黑箱 SDK，几行代码搞定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983480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5001768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性能量化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502920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网关自身开销约 1ms · P50/P95 · 并发吞吐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696712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68880" y="5714999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质量与验收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5742431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安全自测 · 自动化测试 · PRD 达标对照 · 开箱即测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6409944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6428231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部署与交付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6455664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绿色 ZIP / Docker / 多实例（单实例零依赖）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01  背景与痛点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LLM 应用落地后，安全不再是'要不要防'，而是'怎么防'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10332720" cy="42976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LLM 应用面临的八大风险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9875520" cy="3794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提示注入 / 越狱 —— 几句'魔法话术'就让 AI 吐出不该说的内容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数据泄露 —— 身份证、手机号、银行卡随对话悄悄流出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工具滥用 —— AI 被诱导调用删除、转账、提权等高危操作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刷单刷评 —— 批量机器人灌水、薅羊毛、恶意打差评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多轮诱导 —— 不直接问，铺垫几轮再套出敏感信息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编码混淆 —— 全角 / Base64 / HTML 实体等变体绕过关键词检测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思维链风险 —— AI 自己也可能产生提权、导数据、转资金的念头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合规压力 —— 数据出境与隐私保护法规提出更高安全要求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结论：防线必须同时布在『输入 — 工具 — 输出』全链路，单点防护防不住组合攻击，需要多层协同纵深防御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守护智能体，而不是限制智能体——安全与体验兼得，每层防线独立可开关，按业务风险等级灵活组合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02 · 产品定位与全链路防线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守护智能体，而不是限制智能体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00200"/>
            <a:ext cx="1493520" cy="96012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14935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用户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161032" y="1988819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17648" y="1600200"/>
            <a:ext cx="1493520" cy="96012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17648" y="1600200"/>
            <a:ext cx="14935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输入防线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038600" y="1988819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95216" y="1600200"/>
            <a:ext cx="1493520" cy="96012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95216" y="1600200"/>
            <a:ext cx="14935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业务 LLM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916168" y="1988819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72784" y="1600200"/>
            <a:ext cx="1493520" cy="96012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2784" y="1600200"/>
            <a:ext cx="14935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工具防线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793736" y="1988819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150352" y="1600200"/>
            <a:ext cx="1493520" cy="96012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50352" y="1600200"/>
            <a:ext cx="14935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输出防线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671304" y="1988819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027920" y="1600200"/>
            <a:ext cx="1493520" cy="96012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27920" y="1600200"/>
            <a:ext cx="14935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用户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34840" y="1170432"/>
            <a:ext cx="2377440" cy="365760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34840" y="1170432"/>
            <a:ext cx="23774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>
                <a:solidFill>
                  <a:srgbClr val="16324F"/>
                </a:solidFill>
                <a:latin typeface="微软雅黑"/>
                <a:ea typeface="微软雅黑"/>
              </a:rPr>
              <a:t>思维链监控（管住 AI 思考）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2697480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7A8794"/>
                </a:solidFill>
                <a:latin typeface="微软雅黑"/>
                <a:ea typeface="微软雅黑"/>
              </a:rPr>
              <a:t>输入防线管『进来的话』、输出防线管『出去的话』、思维链管『AI 脑子里的话』——三层形成完整闭环；每层独立可开关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" y="3063240"/>
            <a:ext cx="5074920" cy="301752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15568" y="313639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它是什么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3520440"/>
            <a:ext cx="4617720" cy="2514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定位：业务 LLM 与用户 / 工具之间的透明安全网关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原则：默认拒绝，逐层验证通过才放行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规则可配置、误拦可调、可解释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形态：单文件服务 + 图形面板 + 黑箱 SDK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非技术用户几行代码即可接入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部署：单机零依赖，也可多实例水平扩展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安全与体验兼得：拦截恶意行为，不打扰正常用户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99632" y="3063240"/>
            <a:ext cx="5074920" cy="301752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13639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各层防线明细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28232" y="3520440"/>
            <a:ext cx="4617720" cy="2514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输入防线：规则 + 混淆归一 + 语境分 + 大模型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工具防线：白名单 + 参数校验 + 30 秒 JWT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输出防线：脱敏 + 零宽水印 + 差分隐私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思维链监控：AI 动手前拦截危险念头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反刷评：去重 + 限流 + 信誉分 + 机器行为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审计溯源：攻击标签 + 哈希链 + 报表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拦截发生在风险产生的那一刻，而非结果发生之后——三层防线形成完整闭环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· 六大核心防线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输入 / 工具 / 输出 / 反刷评 / 判定引擎 / 思维链 · 每个模块都经过自动化测试验证，可单独开关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508760"/>
            <a:ext cx="32918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645919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E4E79"/>
                </a:solidFill>
                <a:latin typeface="微软雅黑"/>
                <a:ea typeface="微软雅黑"/>
              </a:rPr>
              <a:t>输入防线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94560"/>
            <a:ext cx="28346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三层规则 + 混淆归一化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多轮语境分 + 大模型兜底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低风险自动改写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508760"/>
            <a:ext cx="32918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645919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E4E79"/>
                </a:solidFill>
                <a:latin typeface="微软雅黑"/>
                <a:ea typeface="微软雅黑"/>
              </a:rPr>
              <a:t>工具防线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194560"/>
            <a:ext cx="28346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白名单授权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参数深度校验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30 秒 JWT 令牌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79" y="1508760"/>
            <a:ext cx="32918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59" y="1645919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E4E79"/>
                </a:solidFill>
                <a:latin typeface="微软雅黑"/>
                <a:ea typeface="微软雅黑"/>
              </a:rPr>
              <a:t>输出防线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2194560"/>
            <a:ext cx="28346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10 类信息脱敏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零宽字符水印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差分隐私噪声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023360"/>
            <a:ext cx="32918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16052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E4E79"/>
                </a:solidFill>
                <a:latin typeface="微软雅黑"/>
                <a:ea typeface="微软雅黑"/>
              </a:rPr>
              <a:t>反刷评风控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709160"/>
            <a:ext cx="28346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内容去重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账号/IP 聚合限流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信誉分升级处置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34840" y="4023360"/>
            <a:ext cx="32918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17720" y="416052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E4E79"/>
                </a:solidFill>
                <a:latin typeface="微软雅黑"/>
                <a:ea typeface="微软雅黑"/>
              </a:rPr>
              <a:t>判定引擎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4709160"/>
            <a:ext cx="28346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本地 / 云端 / 混合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可疑内容大模型判定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30 秒判定缓存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55279" y="4023360"/>
            <a:ext cx="32918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59" y="416052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E4E79"/>
                </a:solidFill>
                <a:latin typeface="微软雅黑"/>
                <a:ea typeface="微软雅黑"/>
              </a:rPr>
              <a:t>思维链监控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79" y="4709160"/>
            <a:ext cx="28346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AI 动手前拦截危险念头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注入扫描 + 大模型判定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与输入输出形成闭环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· 输入防线：把住用户说的话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四道关卡：规则拦截 · 编码归一 · 多轮语境 · 低风险改写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508760"/>
            <a:ext cx="5074920" cy="23774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58191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三层规则引擎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965960"/>
            <a:ext cx="461772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关键词规则：命中即拦截，可随时增删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正则规则：身份证 / 手机号（带词边界防误判）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自然语言规则：描述意图自动生成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全部配置 3 秒热加载，改完即生效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508760"/>
            <a:ext cx="5074920" cy="23774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58191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对抗混淆归一化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8232" y="1965960"/>
            <a:ext cx="461772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全角 / 空格 / 零宽字符先归一化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URL / Base64 / HTML 实体 / Unicode 转义解码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'忽 略 规 则'、B64、&amp;#x89c4; 变体照样识别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先解码再检测，编码绕不过规则层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4023360"/>
            <a:ext cx="5074920" cy="23774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409651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多轮渐进式注入防御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480560"/>
            <a:ext cx="461772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铺垫词累积『会话语境分』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达标后升级审查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敏感请求联动拦截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实测：5 轮诱导前 4 轮无害放行，第 5 轮敏感请求被拦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2" y="4023360"/>
            <a:ext cx="5074920" cy="23774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09651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低风险自动改写（可选）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2" y="4480560"/>
            <a:ext cx="461772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输入含手机号 / 身份证等 PII 但不构成攻击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自动脱敏后放行，对话不中断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13212345678 → 132****5678，业务侧拿到改写结果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· 工具防线：管住 AI 能做的事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四步把关，高危操作层层设卡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63040"/>
            <a:ext cx="2432304" cy="96012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2432304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① 白名单授权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099816" y="1851660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56432" y="1463040"/>
            <a:ext cx="2432304" cy="96012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56432" y="1463040"/>
            <a:ext cx="2432304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② 参数清洗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16168" y="1851660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72784" y="1463040"/>
            <a:ext cx="2432304" cy="96012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72784" y="1463040"/>
            <a:ext cx="2432304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③ 深度校验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732519" y="1851660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089136" y="1463040"/>
            <a:ext cx="2432304" cy="96012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89136" y="1463040"/>
            <a:ext cx="2432304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④ 授权令牌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514600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7A8794"/>
                </a:solidFill>
                <a:latin typeface="微软雅黑"/>
                <a:ea typeface="微软雅黑"/>
              </a:rPr>
              <a:t>任一环节不通过即拦截并记审计；高危工具（删除 / 转账 / 提权）必拦；数组批量 ≥5 项视为批量操作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2971800"/>
            <a:ext cx="5074920" cy="310896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568" y="304495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调用前四步检查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429000"/>
            <a:ext cx="4617720" cy="26060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① 白名单授权：不在白名单直接拦截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高危工具（删除 / 转账 / 提权）必拦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② 参数清洗：允许键过滤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未声明字符串键消毒剔除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③ 深度校验：SQL / 路径遍历 / XSS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敏感参数检测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④ 授权令牌：30 秒有效 JWT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工具端可自证授权，防止令牌冒用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校验失败即拦截并记审计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9632" y="2971800"/>
            <a:ext cx="5074920" cy="310896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304495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工具结果回传也设防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8232" y="3429000"/>
            <a:ext cx="4617720" cy="26060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网页 / 文档返回内容可能携带恶意指令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进模型上下文前先扫描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间接注入命中即拦截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记录审计，防止污染模型上下文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思维链同步检测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AI 自主产生的危险思路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计划提权 / 导数据 / 转资金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在动手前拦截，三层防线形成闭环；高危工具拦截率实测 12/12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 输出防线：护住出去的每一句话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脱敏 + 水印 + 差分隐私，三道保险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10332720" cy="15544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动态分级脱敏（10 类信息）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9875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手机 / 身份证 / 银行卡 / 邮箱 / IP / 姓名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地址 / 车牌 / 营业执照 / 微信号</a:t>
            </a:r>
          </a:p>
          <a:p>
            <a:pPr>
              <a:lnSpc>
                <a:spcPct val="60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300" b="1">
                <a:solidFill>
                  <a:srgbClr val="1E4E79"/>
                </a:solidFill>
                <a:latin typeface="微软雅黑"/>
                <a:ea typeface="微软雅黑"/>
              </a:rPr>
              <a:t>示例：13212345678 → 132****5678</a:t>
            </a:r>
          </a:p>
          <a:p>
            <a:pPr algn="l">
              <a:lnSpc>
                <a:spcPct val="120000"/>
              </a:lnSpc>
            </a:pPr>
            <a:r>
              <a:rPr sz="1300" b="1">
                <a:solidFill>
                  <a:srgbClr val="1E4E79"/>
                </a:solidFill>
                <a:latin typeface="微软雅黑"/>
                <a:ea typeface="微软雅黑"/>
              </a:rPr>
              <a:t>按角色策略分级：full / partial / minimal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零宽字符水印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输出嵌入肉眼不可见身份标记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内容外泄可定位会话与用户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防截图外传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防数据二次分发溯源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与脱敏互补，双重保险；水印提取 GUI 一键完成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差分隐私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统计数字加 Laplace 噪声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防止从聚合结果反推个体数据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适合统计型输出场景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可选开关，按需启用；不影响正常数值读取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 反刷评与账号风控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让机器灌水、批量薅羊毛无处遁形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5074920" cy="42976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四重反刷机制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4617720" cy="3794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① 内容去重：相同 / 相似内容在时间窗内重复提交即拦截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② 聚合限流：账号维度 + IP 维度双重限流，突增流量自动限速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③ 信誉分：跨会话累计，行为越差分越低，低到阈值自动限流 / 终止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④ 机器行为检测：请求间隔过于均匀 → 疑似自动化脚本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四重机制层层叠加，单点失效仍有兜底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实测：重复提交被拦截，编码相似变体同样命中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691640"/>
            <a:ext cx="5074920" cy="42976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76479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会话风险积分（自动升级）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8232" y="2148840"/>
            <a:ext cx="4617720" cy="3794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30 分警告 → 60 分限流 → 80 分终止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拦截行为也累计积分，持续违规逐级加压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管理端一键解封 / 手动封禁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内存模式积分持久化，重启不丢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多实例 Redis 共享，积分变化全程审计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与信誉分联动，跨会话累计打击惯犯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· 判定引擎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安全审核的『大模型法官』：本地模型 / 云端模型，可组合成混合双保险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混合模式判定流程（本地模型初筛 → 云端模型终审）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869033" cy="91440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186903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可疑内容触发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36545" y="2194560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93161" y="1828800"/>
            <a:ext cx="1869033" cy="91440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93161" y="1828800"/>
            <a:ext cx="186903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本地模型初筛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789627" y="2194560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146243" y="1828800"/>
            <a:ext cx="1869033" cy="91440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46243" y="1828800"/>
            <a:ext cx="186903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判安全→云端终审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042708" y="2194560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99324" y="1828800"/>
            <a:ext cx="1869033" cy="91440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99324" y="1828800"/>
            <a:ext cx="186903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云端模型判定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295790" y="2194560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652406" y="1828800"/>
            <a:ext cx="1869033" cy="91440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52406" y="1828800"/>
            <a:ext cx="186903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拦截 / 放行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2834640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7A8794"/>
                </a:solidFill>
                <a:latin typeface="微软雅黑"/>
                <a:ea typeface="微软雅黑"/>
              </a:rPr>
              <a:t>本地判风险直接拦截（数据不出网）；本地判安全才升级云端复核；30 秒判定缓存命中零开销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3291840"/>
            <a:ext cx="10332720" cy="50292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3328416"/>
            <a:ext cx="3108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模型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0" y="3328416"/>
            <a:ext cx="4023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逻辑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0" y="3328416"/>
            <a:ext cx="2560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适合场景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3886200"/>
            <a:ext cx="10332720" cy="566928"/>
          </a:xfrm>
          <a:prstGeom prst="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97280" y="3959352"/>
            <a:ext cx="3108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E4E79"/>
                </a:solidFill>
                <a:latin typeface="微软雅黑"/>
                <a:ea typeface="微软雅黑"/>
              </a:rPr>
              <a:t>本地模型 local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3959352"/>
            <a:ext cx="4023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C3E50"/>
                </a:solidFill>
                <a:latin typeface="微软雅黑"/>
                <a:ea typeface="微软雅黑"/>
              </a:rPr>
              <a:t>只用本机 Ollama（qwen2.5:7b），数据不出网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0" y="3959352"/>
            <a:ext cx="2560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C3E50"/>
                </a:solidFill>
                <a:latin typeface="微软雅黑"/>
                <a:ea typeface="微软雅黑"/>
              </a:rPr>
              <a:t>金融 / 医疗 / 政务、内网离线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4400" y="4526280"/>
            <a:ext cx="10332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7280" y="4599432"/>
            <a:ext cx="3108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E4E79"/>
                </a:solidFill>
                <a:latin typeface="微软雅黑"/>
                <a:ea typeface="微软雅黑"/>
              </a:rPr>
              <a:t>云端模型 cloud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89120" y="4599432"/>
            <a:ext cx="4023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C3E50"/>
                </a:solidFill>
                <a:latin typeface="微软雅黑"/>
                <a:ea typeface="微软雅黑"/>
              </a:rPr>
              <a:t>OpenAI 兼容 API（DeepSeek 等），判定力最强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0" y="4599432"/>
            <a:ext cx="2560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C3E50"/>
                </a:solidFill>
                <a:latin typeface="微软雅黑"/>
                <a:ea typeface="微软雅黑"/>
              </a:rPr>
              <a:t>判定力优先、数据敏感度低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4400" y="5230368"/>
            <a:ext cx="10332720" cy="5486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" y="5285232"/>
            <a:ext cx="9966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6324F"/>
                </a:solidFill>
                <a:latin typeface="微软雅黑"/>
                <a:ea typeface="微软雅黑"/>
              </a:rPr>
              <a:t>混合 hybrid = 本地模型 + 云端模型 组合：本地初筛 + 云端终审，双保险（兼顾隐私与判定力，推荐）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" y="5897880"/>
            <a:ext cx="10332720" cy="82296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15568" y="597103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失败策略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6355080"/>
            <a:ext cx="98755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fallback 自动降级另一模型（推荐）· block 直接拦截（最安全）· allow 直接放行（有风险）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· 思维链监控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AI 动手之前，先拦住它的危险念头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10332720" cy="15544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为什么需要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9875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危险不只会来自用户诱导——AI 自己也可能『想歪』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计划提权 / 导数据 / 转资金等危险念头可能自主产生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等 AI 真正动手再拦往往太晚，要在『动手前』拦截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怎么用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思考过程传入 action_type = thinking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注入特征扫描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大模型判定兜底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命中即拦截并记录审计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实测：转走资金 / 删除所有用户均被拦截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闭环配合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输入防线管『进来的话』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输出防线管『出去的话』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思维链管『AI 脑子里的话』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三层防线形成完整闭环，拦截发生在风险产生的那一刻，而非结果发生之后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04 · 审计与溯源：全程留痕、可校验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日志可溯源，改动任何一条都能被发现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10332720" cy="15544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攻击类型自动标签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94560"/>
            <a:ext cx="4754880" cy="4297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每条记录自动标注攻击类型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194560"/>
            <a:ext cx="4754880" cy="4297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按天轮转归档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697480"/>
            <a:ext cx="4754880" cy="4297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注入 / 隐私 / 违规 / 滥用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97480"/>
            <a:ext cx="4754880" cy="4297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未授权工具 / 系统 / 其他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哈希链防篡改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每条记录含上一条哈希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环环相扣，改动即暴露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一键校验完整性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旧格式兼容校验不断链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2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管理能力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2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CSV 报表一键导出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Excel 直接打开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只读 Token 给查看者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耗时字段全程记录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05 · 业务接入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三步接入，5 分钟跑通；黑箱 SDK 与标准 API 按需选择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63040"/>
            <a:ext cx="3371088" cy="91440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337108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① 解压启动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038600" y="1828800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95216" y="1463040"/>
            <a:ext cx="3371088" cy="91440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5216" y="1463040"/>
            <a:ext cx="337108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② 配置密钥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793736" y="1828800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50352" y="1463040"/>
            <a:ext cx="3371088" cy="91440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50352" y="1463040"/>
            <a:ext cx="337108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③ 代码接入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468880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7A8794"/>
                </a:solidFill>
                <a:latin typeface="微软雅黑"/>
                <a:ea typeface="微软雅黑"/>
              </a:rPr>
              <a:t>绿色 ZIP 解压即用 → GUI 生成业务密钥（guard_api_key）→ 一行代码接入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2926080"/>
            <a:ext cx="4937760" cy="23774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5568" y="2999232"/>
            <a:ext cx="45354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黑箱 SDK（推荐非技术用户）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383280"/>
            <a:ext cx="448056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一行包装你的大模型，自动完成全套防护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输入审核 → 工具防护 → 输出脱敏，无需关心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拦截时抛出 GuardBlocked，原因可直接展示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session / user 标识都不用管，SDK 自动处理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2926080"/>
            <a:ext cx="5029200" cy="2377440"/>
          </a:xfrm>
          <a:prstGeom prst="roundRect">
            <a:avLst/>
          </a:prstGeom>
          <a:solidFill>
            <a:srgbClr val="EDF1F5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06324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E4E79"/>
                </a:solidFill>
                <a:latin typeface="微软雅黑"/>
                <a:ea typeface="微软雅黑"/>
              </a:rPr>
              <a:t>接入示例（仅 4 行代码）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520440"/>
            <a:ext cx="45720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E4E79"/>
                </a:solidFill>
                <a:latin typeface="微软雅黑"/>
                <a:ea typeface="微软雅黑"/>
              </a:rPr>
              <a:t>from guard_sdk import Guard</a:t>
            </a:r>
          </a:p>
          <a:p>
            <a:pPr algn="l">
              <a:lnSpc>
                <a:spcPct val="115000"/>
              </a:lnSpc>
            </a:pPr>
            <a:r>
              <a:rPr sz="1250" b="1">
                <a:solidFill>
                  <a:srgbClr val="1E4E79"/>
                </a:solidFill>
                <a:latin typeface="微软雅黑"/>
                <a:ea typeface="微软雅黑"/>
              </a:rPr>
              <a:t>guard = Guard(api_key="你的密钥")</a:t>
            </a:r>
          </a:p>
          <a:p>
            <a:pPr algn="l">
              <a:lnSpc>
                <a:spcPct val="115000"/>
              </a:lnSpc>
            </a:pPr>
            <a:r>
              <a:rPr sz="1250" b="1">
                <a:solidFill>
                  <a:srgbClr val="1E4E79"/>
                </a:solidFill>
                <a:latin typeface="微软雅黑"/>
                <a:ea typeface="微软雅黑"/>
              </a:rPr>
              <a:t>safe_llm = guard.wrap_llm(my_llm)</a:t>
            </a:r>
          </a:p>
          <a:p>
            <a:pPr algn="l">
              <a:lnSpc>
                <a:spcPct val="115000"/>
              </a:lnSpc>
            </a:pPr>
            <a:r>
              <a:rPr sz="1250" b="1">
                <a:solidFill>
                  <a:srgbClr val="1E4E79"/>
                </a:solidFill>
                <a:latin typeface="微软雅黑"/>
                <a:ea typeface="微软雅黑"/>
              </a:rPr>
              <a:t>reply = safe_llm("用户说的话")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5532120"/>
            <a:ext cx="10332720" cy="10972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5568" y="560527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标准 API（精细控制，适合深度集成）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5989320"/>
            <a:ext cx="9875520" cy="59435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2C3E50"/>
                </a:solidFill>
                <a:latin typeface="微软雅黑"/>
                <a:ea typeface="微软雅黑"/>
              </a:rPr>
              <a:t>• 四环节 user_input / tool_call / tool_result / output + 思维链 thinking；每个环节返回 decision / block_reason / risk_level / latency_ms；工具端 validate-token 自证授权</a:t>
            </a:r>
          </a:p>
          <a:p>
            <a:pPr>
              <a:lnSpc>
                <a:spcPct val="60000"/>
              </a:lnSpc>
            </a:pPr>
            <a:r>
              <a:rPr sz="8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800" b="1">
                <a:solidFill>
                  <a:srgbClr val="1E4E79"/>
                </a:solidFill>
                <a:latin typeface="微软雅黑"/>
                <a:ea typeface="微软雅黑"/>
              </a:rPr>
              <a:t>两种方式按需选择：要省事用 SDK，要精细控制用 API，全程可观测可追溯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06 · 性能量化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网关自身开销约 1ms，损耗透明可查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508760"/>
            <a:ext cx="10332720" cy="54864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155448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P50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5544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P95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148840"/>
            <a:ext cx="10332720" cy="594360"/>
          </a:xfrm>
          <a:prstGeom prst="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4028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普通输入放行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224028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0.9 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2402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1.2 ms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834640"/>
            <a:ext cx="103327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292608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工具调用放行 / 拦截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292608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1.0 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9260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1.5 ms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3520440"/>
            <a:ext cx="10332720" cy="594360"/>
          </a:xfrm>
          <a:prstGeom prst="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361188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输出脱敏 + 水印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361188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1.2 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36118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1.9 ms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4206240"/>
            <a:ext cx="103327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4297679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大模型判定（可选）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4297679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~0.9 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297679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仅可疑内容触发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" y="4892040"/>
            <a:ext cx="10332720" cy="15544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15568" y="496519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结论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5349240"/>
            <a:ext cx="9875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网关自身开销 P50 约 1ms，平均与中位一致（keep-alive 长连接实测）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20 并发实测吞吐约 1280 请求 / 秒；每请求耗时写入响应与审计日志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若每次新建 TCP 连接会叠加约 20ms 握手开销，业务侧用连接池即可消除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07 · 质量与验收 · 验收标准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Quality Gates · 交付验证 + PRD 硬性指标 + 开箱即测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508760"/>
            <a:ext cx="5074920" cy="265176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58191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交付验证（研发侧质量）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965960"/>
            <a:ext cx="4617720" cy="21488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67 项自动化测试全部通过（go test ./...）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9/9 端到端冒烟验证：真实打包二进制实测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6 套对抗/误判/性能测试脚本可随时复跑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构建与 GUI 编译通过，覆盖 CI 检查项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审计哈希链 100% 可溯源、可校验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508760"/>
            <a:ext cx="5074920" cy="265176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99632" y="1572768"/>
            <a:ext cx="5074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C9A227"/>
                </a:solidFill>
                <a:latin typeface="微软雅黑"/>
                <a:ea typeface="微软雅黑"/>
              </a:rPr>
              <a:t>PRD 核心验收标准（达标对照）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103120"/>
            <a:ext cx="2377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微软雅黑"/>
                <a:ea typeface="微软雅黑"/>
              </a:rPr>
              <a:t>越狱 / 高危注入识别率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2103120"/>
            <a:ext cx="11887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C9D6E4"/>
                </a:solidFill>
                <a:latin typeface="微软雅黑"/>
                <a:ea typeface="微软雅黑"/>
              </a:rPr>
              <a:t>≥ 98%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12680" y="2103120"/>
            <a:ext cx="1234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8FE0A8"/>
                </a:solidFill>
                <a:latin typeface="微软雅黑"/>
                <a:ea typeface="微软雅黑"/>
              </a:rPr>
              <a:t>✅ 达标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496312"/>
            <a:ext cx="2377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微软雅黑"/>
                <a:ea typeface="微软雅黑"/>
              </a:rPr>
              <a:t>误拦截率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2496312"/>
            <a:ext cx="11887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C9D6E4"/>
                </a:solidFill>
                <a:latin typeface="微软雅黑"/>
                <a:ea typeface="微软雅黑"/>
              </a:rPr>
              <a:t>≤ 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12680" y="2496312"/>
            <a:ext cx="1234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8FE0A8"/>
                </a:solidFill>
                <a:latin typeface="微软雅黑"/>
                <a:ea typeface="微软雅黑"/>
              </a:rPr>
              <a:t>✅ 达标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889504"/>
            <a:ext cx="2377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微软雅黑"/>
                <a:ea typeface="微软雅黑"/>
              </a:rPr>
              <a:t>多轮诱导识别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2889504"/>
            <a:ext cx="11887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C9D6E4"/>
                </a:solidFill>
                <a:latin typeface="微软雅黑"/>
                <a:ea typeface="微软雅黑"/>
              </a:rPr>
              <a:t>≥ 95%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12680" y="2889504"/>
            <a:ext cx="1234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8FE0A8"/>
                </a:solidFill>
                <a:latin typeface="微软雅黑"/>
                <a:ea typeface="微软雅黑"/>
              </a:rPr>
              <a:t>✅ 达标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3282696"/>
            <a:ext cx="2377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微软雅黑"/>
                <a:ea typeface="微软雅黑"/>
              </a:rPr>
              <a:t>高危工具拦截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0" y="3282696"/>
            <a:ext cx="11887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C9D6E4"/>
                </a:solidFill>
                <a:latin typeface="微软雅黑"/>
                <a:ea typeface="微软雅黑"/>
              </a:rPr>
              <a:t>100%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12680" y="3282696"/>
            <a:ext cx="1234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8FE0A8"/>
                </a:solidFill>
                <a:latin typeface="微软雅黑"/>
                <a:ea typeface="微软雅黑"/>
              </a:rPr>
              <a:t>✅ 达标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675888"/>
            <a:ext cx="2377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微软雅黑"/>
                <a:ea typeface="微软雅黑"/>
              </a:rPr>
              <a:t>审计日志可溯源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3675888"/>
            <a:ext cx="11887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C9D6E4"/>
                </a:solidFill>
                <a:latin typeface="微软雅黑"/>
                <a:ea typeface="微软雅黑"/>
              </a:rPr>
              <a:t>100%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12680" y="3675888"/>
            <a:ext cx="1234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8FE0A8"/>
                </a:solidFill>
                <a:latin typeface="微软雅黑"/>
                <a:ea typeface="微软雅黑"/>
              </a:rPr>
              <a:t>✅ 达标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99632" y="3886200"/>
            <a:ext cx="50749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C9D6E4"/>
                </a:solidFill>
                <a:latin typeface="微软雅黑"/>
                <a:ea typeface="微软雅黑"/>
              </a:rPr>
              <a:t>实测满足全部硬性指标（实测数据详见『安全自测』页）</a:t>
            </a:r>
          </a:p>
          <a:p>
            <a:pPr algn="ctr">
              <a:lnSpc>
                <a:spcPct val="115000"/>
              </a:lnSpc>
            </a:pPr>
            <a:r>
              <a:rPr sz="950" b="0">
                <a:solidFill>
                  <a:srgbClr val="C9D6E4"/>
                </a:solidFill>
                <a:latin typeface="微软雅黑"/>
                <a:ea typeface="微软雅黑"/>
              </a:rPr>
              <a:t>本地模式 ≥93%，混合模式全面达标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4400" y="4343400"/>
            <a:ext cx="10332720" cy="17830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443484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E4E79"/>
                </a:solidFill>
                <a:latin typeface="微软雅黑"/>
                <a:ea typeface="微软雅黑"/>
              </a:rPr>
              <a:t>开箱即测 · 拿到手就能验收的两个黑盒用例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4937760"/>
            <a:ext cx="48463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用例一：发送『我的号码13212345678请登记』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→ 放行 ✅，返回改写结果 132****5678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（自动脱敏，对话不中断）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4937760"/>
            <a:ext cx="48463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用例二：同一内容 10 分钟内重复提交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→ 拦截 ✅（防刷屏）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（管理后台可实时查看审计与拦截原因）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07 · 质量与验收 · 安全自测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本地 7B vs 本地+DeepSeek 混合，三套测试集对比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508760"/>
            <a:ext cx="5074920" cy="233172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72768"/>
            <a:ext cx="5074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C9A227"/>
                </a:solidFill>
                <a:latin typeface="微软雅黑"/>
                <a:ea typeface="微软雅黑"/>
              </a:rPr>
              <a:t>本地 7B（仅本地模型）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5074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微软雅黑"/>
                <a:ea typeface="微软雅黑"/>
              </a:rPr>
              <a:t>90%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5074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C9D6E4"/>
                </a:solidFill>
                <a:latin typeface="微软雅黑"/>
                <a:ea typeface="微软雅黑"/>
              </a:rPr>
              <a:t>基础攻击 55/61 · 变体 91/98（93%）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337560"/>
            <a:ext cx="5074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C9D6E4"/>
                </a:solidFill>
                <a:latin typeface="微软雅黑"/>
                <a:ea typeface="微软雅黑"/>
              </a:rPr>
              <a:t>语义专项 15/20（75%）· 越狱 14/15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508760"/>
            <a:ext cx="5074920" cy="2331720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9632" y="1572768"/>
            <a:ext cx="5074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混合（本地 + DeepSeek）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9632" y="2011680"/>
            <a:ext cx="5074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微软雅黑"/>
                <a:ea typeface="微软雅黑"/>
              </a:rPr>
              <a:t>93%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9632" y="2971800"/>
            <a:ext cx="5074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微软雅黑"/>
                <a:ea typeface="微软雅黑"/>
              </a:rPr>
              <a:t>基础攻击 57/61 · 变体 98/98（100%）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9632" y="3337560"/>
            <a:ext cx="5074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语义专项 16/20（80%）· 越狱 15/15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4069080"/>
            <a:ext cx="10332720" cy="219456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5568" y="414223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三套测试集对比（对抗测试报告）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526280"/>
            <a:ext cx="9875520" cy="16916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基础攻击（61）本地 90% → 混合 93%　·　自动变体（98，同义词/编码/角色/谐音）本地 93% → 混合 100%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语义级专项（20，角色扮演/隐喻/社工）：本地 75% → 混合 80%——剩余为纯隐喻与模糊社工（'锁着的门后面是什么'），属 AI 安全领域公认边界，需业务侧人工复核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结论：自动改写让用户报手机号/身份证自动脱敏放行（132****5678），误判归零且对话不中断；混合模式用于强对抗场景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08  部署与交付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看得见、管得住、拿得走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10332720" cy="15544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绿色免安装 ZIP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9875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解压即用，双击启动 GUI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无需安装 Python / Go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配置规则白名单开箱自带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跨平台：Windows / Linux / macOS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Docker / 多实例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镜像约 15MB 多阶段构建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一条命令启动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多实例 Redis 共享会话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单实例完全不需要 Redis（零依赖）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管理界面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Web 后台 + 图形面板 8 大页签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本地 / 云端 / 混合一键切换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配置 3 秒热加载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管理 API 全部 Token 鉴权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微软雅黑"/>
                <a:ea typeface="微软雅黑"/>
              </a:rPr>
              <a:t>谢谢观看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0" y="3657600"/>
            <a:ext cx="1920240" cy="3657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93192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C9D6E4"/>
                </a:solidFill>
                <a:latin typeface="微软雅黑"/>
                <a:ea typeface="微软雅黑"/>
              </a:rPr>
              <a:t>安全交互守护智能体 · Security Guard Agent · v1.1.0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>
                <a:solidFill>
                  <a:srgbClr val="C9A227"/>
                </a:solidFill>
                <a:latin typeface="微软雅黑"/>
                <a:ea typeface="微软雅黑"/>
              </a:rPr>
              <a:t>把 AI 的能力，关进安全的笼子里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8521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8FA9C6"/>
                </a:solidFill>
                <a:latin typeface="微软雅黑"/>
                <a:ea typeface="微软雅黑"/>
              </a:rPr>
              <a:t>绿色免安装版 · 解压即用 · 双击「启动GUI.bat」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